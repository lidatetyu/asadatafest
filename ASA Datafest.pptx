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E94752-214A-4DF1-80AC-83EFF42D9F0B}">
  <a:tblStyle styleId="{CEE94752-214A-4DF1-80AC-83EFF42D9F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4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e007ff4f5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e007ff4f5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2e007ff2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2e007ff2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e007ff2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e007ff2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e007ff25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2e007ff25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that we had at the end of the project: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Why were there so many clients whose income went way over that state’s income limits. (e.g. clients making 100k+ annually)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What happened around 2016 that caused so many new lawyers to join? How about in 2020? (attorneys$CreatedUtc)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27950" y="53362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5" name="Google Shape;1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67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-8" y="677406"/>
            <a:ext cx="745763" cy="45826"/>
            <a:chOff x="4580561" y="2589004"/>
            <a:chExt cx="1064464" cy="25200"/>
          </a:xfrm>
        </p:grpSpPr>
        <p:sp>
          <p:nvSpPr>
            <p:cNvPr id="22" name="Google Shape;22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B1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0B1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4"/>
          <p:cNvSpPr txBox="1"/>
          <p:nvPr>
            <p:ph type="title"/>
          </p:nvPr>
        </p:nvSpPr>
        <p:spPr>
          <a:xfrm>
            <a:off x="0" y="71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" name="Google Shape;38;p6"/>
          <p:cNvGrpSpPr/>
          <p:nvPr/>
        </p:nvGrpSpPr>
        <p:grpSpPr>
          <a:xfrm>
            <a:off x="-8" y="487806"/>
            <a:ext cx="745763" cy="45826"/>
            <a:chOff x="4580561" y="2589004"/>
            <a:chExt cx="1064464" cy="25200"/>
          </a:xfrm>
        </p:grpSpPr>
        <p:sp>
          <p:nvSpPr>
            <p:cNvPr id="39" name="Google Shape;39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B1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00B1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0" y="-237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6" name="Google Shape;46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3" name="Google Shape;5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1" name="Google Shape;7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112" y="2143033"/>
            <a:ext cx="3393875" cy="14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>
            <p:ph type="ctrTitle"/>
          </p:nvPr>
        </p:nvSpPr>
        <p:spPr>
          <a:xfrm>
            <a:off x="848000" y="47832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/>
              <a:t>Improving Pro Bono Client Experience</a:t>
            </a:r>
            <a:r>
              <a:rPr lang="en" sz="4540"/>
              <a:t> at</a:t>
            </a:r>
            <a:endParaRPr sz="4540"/>
          </a:p>
        </p:txBody>
      </p:sp>
      <p:sp>
        <p:nvSpPr>
          <p:cNvPr id="84" name="Google Shape;84;p13"/>
          <p:cNvSpPr txBox="1"/>
          <p:nvPr/>
        </p:nvSpPr>
        <p:spPr>
          <a:xfrm>
            <a:off x="2252700" y="3630700"/>
            <a:ext cx="4638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27050" lvl="0" marL="457200" rtl="0" algn="ctr">
              <a:spcBef>
                <a:spcPts val="0"/>
              </a:spcBef>
              <a:spcAft>
                <a:spcPts val="0"/>
              </a:spcAft>
              <a:buSzPts val="4700"/>
              <a:buFont typeface="Raleway"/>
              <a:buChar char="-"/>
            </a:pPr>
            <a:r>
              <a:rPr lang="en" sz="4700">
                <a:latin typeface="Raleway"/>
                <a:ea typeface="Raleway"/>
                <a:cs typeface="Raleway"/>
                <a:sym typeface="Raleway"/>
              </a:rPr>
              <a:t>Team X -</a:t>
            </a:r>
            <a:endParaRPr sz="47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257800" y="4434875"/>
            <a:ext cx="686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Raleway"/>
                <a:ea typeface="Raleway"/>
                <a:cs typeface="Raleway"/>
                <a:sym typeface="Raleway"/>
              </a:rPr>
              <a:t>Alejandro Herrera, Himanshu Kumar, Lida Tetyusheva</a:t>
            </a:r>
            <a:endParaRPr sz="21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1025" y="57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/>
              <a:t>Sentiment and Text Analysis</a:t>
            </a:r>
            <a:endParaRPr sz="2840"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19099" r="19149" t="0"/>
          <a:stretch/>
        </p:blipFill>
        <p:spPr>
          <a:xfrm rot="5400000">
            <a:off x="24" y="1047426"/>
            <a:ext cx="3792626" cy="37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1575" y="1291900"/>
            <a:ext cx="5047550" cy="330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0" y="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the clients and what are they asking?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40900" y="572425"/>
            <a:ext cx="777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Top 3 Question Categories: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Family and Children, Housing and Homelessness, Other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30850" y="14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{CEE94752-214A-4DF1-80AC-83EFF42D9F0B}</a:tableStyleId>
              </a:tblPr>
              <a:tblGrid>
                <a:gridCol w="767475"/>
                <a:gridCol w="1284150"/>
                <a:gridCol w="1047950"/>
                <a:gridCol w="1340950"/>
                <a:gridCol w="1654125"/>
                <a:gridCol w="1681950"/>
              </a:tblGrid>
              <a:tr h="65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State</a:t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# in Household</a:t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Gender</a:t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Marital Status</a:t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Category</a:t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solidFill>
                      <a:srgbClr val="00B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Below Allowed Income Limit</a:t>
                      </a:r>
                      <a:endParaRPr b="1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  <a:tr h="43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Female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Single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Family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</a:tr>
              <a:tr h="43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TX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Female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Separated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Family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</a:tr>
              <a:tr h="43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FL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Female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Single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Family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False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</a:tr>
              <a:tr h="43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IL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Female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Married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Family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</a:tr>
              <a:tr h="43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IL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Female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Single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Other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0" name="Google Shape;100;p15"/>
          <p:cNvSpPr txBox="1"/>
          <p:nvPr/>
        </p:nvSpPr>
        <p:spPr>
          <a:xfrm>
            <a:off x="40900" y="100985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Top 5 clusters of clients had these demographics: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30850" y="4476300"/>
            <a:ext cx="897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Recruitment Advice: 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Advertise to Family and Children Attorneys that have experience with single female clients.  Enable precautions that prove clients are eligible for pro bono services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038" y="-41850"/>
            <a:ext cx="465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50"/>
              <a:t>When</a:t>
            </a:r>
            <a:r>
              <a:rPr lang="en" sz="1550"/>
              <a:t> is the need for lawyers the greatest?</a:t>
            </a:r>
            <a:endParaRPr sz="155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620" y="2506350"/>
            <a:ext cx="4345981" cy="25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>
            <p:ph type="title"/>
          </p:nvPr>
        </p:nvSpPr>
        <p:spPr>
          <a:xfrm>
            <a:off x="4584550" y="-41850"/>
            <a:ext cx="465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50"/>
              <a:t>Where is the need for lawyers the greatest?</a:t>
            </a:r>
            <a:endParaRPr sz="1550"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 b="10306" l="0" r="0" t="7110"/>
          <a:stretch/>
        </p:blipFill>
        <p:spPr>
          <a:xfrm>
            <a:off x="4724425" y="422175"/>
            <a:ext cx="4345976" cy="20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4572025" y="81850"/>
            <a:ext cx="178800" cy="508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0" y="106300"/>
            <a:ext cx="92700" cy="503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9051300" y="206675"/>
            <a:ext cx="92700" cy="49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 rot="-5400000">
            <a:off x="4524750" y="540975"/>
            <a:ext cx="92700" cy="914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188" y="2743949"/>
            <a:ext cx="4485827" cy="232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188" y="422175"/>
            <a:ext cx="4485837" cy="232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